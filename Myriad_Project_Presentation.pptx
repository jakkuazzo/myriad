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D2A3E"/>
                </a:solidFill>
              </a:rPr>
              <a:t>Myriad</a:t>
            </a:r>
          </a:p>
          <a:p>
            <a:pPr>
              <a:defRPr sz="1400">
                <a:solidFill>
                  <a:srgbClr val="5C5C5C"/>
                </a:solidFill>
              </a:defRPr>
            </a:pPr>
            <a:r>
              <a:t>Privacy-first mindful habit tracking across desktop and 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Final Year Project Presentation</a:t>
            </a:r>
          </a:p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Said Osman</a:t>
            </a:r>
          </a:p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Local-first analytics, behavior change, adaptive relapse prevention</a:t>
            </a:r>
          </a:p>
        </p:txBody>
      </p:sp>
      <p:pic>
        <p:nvPicPr>
          <p:cNvPr id="4" name="Picture 3" descr="myriad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51560"/>
            <a:ext cx="5394960" cy="3371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89320" y="539496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C5C5C"/>
                </a:solidFill>
              </a:defRPr>
            </a:pPr>
            <a:r>
              <a:t>Home dashboard screenshot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09360"/>
            <a:ext cx="11201400" cy="27432"/>
          </a:xfrm>
          <a:prstGeom prst="rect">
            <a:avLst/>
          </a:prstGeom>
          <a:solidFill>
            <a:srgbClr val="1A8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</a:defRPr>
            </a:pPr>
            <a:r>
              <a:t>Myriad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40080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C5C5C"/>
                </a:solidFill>
              </a:defRPr>
            </a:pPr>
            <a:r>
              <a:t>16 Apr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D2A3E"/>
                </a:solidFill>
              </a:rPr>
              <a:t>Problem, Aim, and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t>Usage drifts without timely feedback or practical intervention.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t>Myriad turns local event history into behavior-change plans.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t>Core stack: Electron, Express, SQLite, and browser/chat import connectors.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t>No external analytics backend is required for the MVP.</a:t>
            </a:r>
          </a:p>
        </p:txBody>
      </p:sp>
      <p:pic>
        <p:nvPicPr>
          <p:cNvPr id="4" name="Picture 3" descr="myriad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43000"/>
            <a:ext cx="5394960" cy="69984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89320" y="544068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C5C5C"/>
                </a:solidFill>
              </a:defRPr>
            </a:pPr>
            <a:r>
              <a:t>Stats / intervention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09360"/>
            <a:ext cx="11201400" cy="27432"/>
          </a:xfrm>
          <a:prstGeom prst="rect">
            <a:avLst/>
          </a:prstGeom>
          <a:solidFill>
            <a:srgbClr val="1A8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</a:defRPr>
            </a:pPr>
            <a:r>
              <a:t>Myriad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40080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C5C5C"/>
                </a:solidFill>
              </a:defRPr>
            </a:pPr>
            <a:r>
              <a:t>16 Apr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D2A3E"/>
                </a:solidFill>
              </a:rPr>
              <a:t>App Screenshots</a:t>
            </a:r>
          </a:p>
        </p:txBody>
      </p:sp>
      <p:pic>
        <p:nvPicPr>
          <p:cNvPr id="3" name="Picture 2" descr="myriad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36576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1089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C5C5C"/>
                </a:solidFill>
              </a:defRPr>
            </a:pPr>
            <a:r>
              <a:t>Home and import flow</a:t>
            </a:r>
          </a:p>
        </p:txBody>
      </p:sp>
      <p:pic>
        <p:nvPicPr>
          <p:cNvPr id="5" name="Picture 4" descr="myriad_st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234440"/>
            <a:ext cx="3657600" cy="474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51960" y="31089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C5C5C"/>
                </a:solidFill>
              </a:defRPr>
            </a:pPr>
            <a:r>
              <a:t>Stats and interventions</a:t>
            </a:r>
          </a:p>
        </p:txBody>
      </p:sp>
      <p:pic>
        <p:nvPicPr>
          <p:cNvPr id="7" name="Picture 6" descr="poc_category_u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1234440"/>
            <a:ext cx="36576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09560" y="31089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C5C5C"/>
                </a:solidFill>
              </a:defRPr>
            </a:pPr>
            <a:r>
              <a:t>Category usage chart</a:t>
            </a:r>
          </a:p>
        </p:txBody>
      </p:sp>
      <p:pic>
        <p:nvPicPr>
          <p:cNvPr id="9" name="Picture 8" descr="poc_sentiment_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519" y="3703320"/>
            <a:ext cx="365760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5577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C5C5C"/>
                </a:solidFill>
              </a:defRPr>
            </a:pPr>
            <a:r>
              <a:t>Sentiment trend</a:t>
            </a:r>
          </a:p>
        </p:txBody>
      </p:sp>
      <p:pic>
        <p:nvPicPr>
          <p:cNvPr id="11" name="Picture 10" descr="poc_test_outcom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703320"/>
            <a:ext cx="3657600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32120" y="5577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C5C5C"/>
                </a:solidFill>
              </a:defRPr>
            </a:pPr>
            <a:r>
              <a:t>Validation outcomes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09360"/>
            <a:ext cx="11201400" cy="27432"/>
          </a:xfrm>
          <a:prstGeom prst="rect">
            <a:avLst/>
          </a:prstGeom>
          <a:solidFill>
            <a:srgbClr val="1A8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</a:defRPr>
            </a:pPr>
            <a:r>
              <a:t>Myriad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40080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C5C5C"/>
                </a:solidFill>
              </a:defRPr>
            </a:pPr>
            <a:r>
              <a:t>16 Apr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D2A3E"/>
                </a:solidFill>
              </a:rPr>
              <a:t>Adaptive Relapse Risk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t>Risk combines trend, device usage, and time-of-day patterns.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t>The app classifies each goal as low, moderate, high, or critical risk.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t>Intervention prompts intensify automatically as risk rises.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t>The plan endpoint exposes detailed risk diagnostics for transparency.</a:t>
            </a:r>
          </a:p>
        </p:txBody>
      </p:sp>
      <p:pic>
        <p:nvPicPr>
          <p:cNvPr id="4" name="Picture 3" descr="poc_category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143000"/>
            <a:ext cx="5212080" cy="2606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80760" y="539496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C5C5C"/>
                </a:solidFill>
              </a:defRPr>
            </a:pPr>
            <a:r>
              <a:t>Pattern evidence used by the risk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09360"/>
            <a:ext cx="11201400" cy="27432"/>
          </a:xfrm>
          <a:prstGeom prst="rect">
            <a:avLst/>
          </a:prstGeom>
          <a:solidFill>
            <a:srgbClr val="1A8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</a:defRPr>
            </a:pPr>
            <a:r>
              <a:t>Myriad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40080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C5C5C"/>
                </a:solidFill>
              </a:defRPr>
            </a:pPr>
            <a:r>
              <a:t>16 Apr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D2A3E"/>
                </a:solidFill>
              </a:rPr>
              <a:t>Video Walkthrough: Desktop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74903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Embedded MP4 clip from the app demo.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Covers setup, import, and visualisation flow.</a:t>
            </a:r>
          </a:p>
        </p:txBody>
      </p:sp>
      <p:pic>
        <p:nvPicPr>
          <p:cNvPr id="4" name="myriad-setup-to-visualis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43400" y="1143000"/>
            <a:ext cx="722376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43400" y="5349240"/>
            <a:ext cx="7223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C5C5C"/>
                </a:solidFill>
              </a:defRPr>
            </a:pPr>
            <a:r>
              <a:t>Embedded video clip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09360"/>
            <a:ext cx="11201400" cy="27432"/>
          </a:xfrm>
          <a:prstGeom prst="rect">
            <a:avLst/>
          </a:prstGeom>
          <a:solidFill>
            <a:srgbClr val="1A8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</a:defRPr>
            </a:pPr>
            <a:r>
              <a:t>Myriad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40080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C5C5C"/>
                </a:solidFill>
              </a:defRPr>
            </a:pPr>
            <a:r>
              <a:t>16 Apr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D2A3E"/>
                </a:solidFill>
              </a:rPr>
              <a:t>Video Walkthrough: iOS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Embedded simulator clip.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Shows the restored iOS test target and device flow.</a:t>
            </a:r>
          </a:p>
        </p:txBody>
      </p:sp>
      <p:pic>
        <p:nvPicPr>
          <p:cNvPr id="4" name="myriad-ios-simulator-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43400" y="1143000"/>
            <a:ext cx="722376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43400" y="5349240"/>
            <a:ext cx="7223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C5C5C"/>
                </a:solidFill>
              </a:defRPr>
            </a:pPr>
            <a:r>
              <a:t>Embedded video clip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09360"/>
            <a:ext cx="11201400" cy="27432"/>
          </a:xfrm>
          <a:prstGeom prst="rect">
            <a:avLst/>
          </a:prstGeom>
          <a:solidFill>
            <a:srgbClr val="1A8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</a:defRPr>
            </a:pPr>
            <a:r>
              <a:t>Myriad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40080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C5C5C"/>
                </a:solidFill>
              </a:defRPr>
            </a:pPr>
            <a:r>
              <a:t>16 Apr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D2A3E"/>
                </a:solidFill>
              </a:rPr>
              <a:t>Validation and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t>Node tests: 14/14 passed.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t>E2E UI test: passed.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t>iOS build/test flow: restored and passing via test:ios.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t>Usability pilot: SUS 73.8/100 with positive qualitative feedback.</a:t>
            </a:r>
          </a:p>
        </p:txBody>
      </p:sp>
      <p:pic>
        <p:nvPicPr>
          <p:cNvPr id="4" name="Picture 3" descr="poc_test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074920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5440680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C5C5C"/>
                </a:solidFill>
              </a:defRPr>
            </a:pPr>
            <a:r>
              <a:t>Evidence summary screenshot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09360"/>
            <a:ext cx="11201400" cy="27432"/>
          </a:xfrm>
          <a:prstGeom prst="rect">
            <a:avLst/>
          </a:prstGeom>
          <a:solidFill>
            <a:srgbClr val="1A8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</a:defRPr>
            </a:pPr>
            <a:r>
              <a:t>Myriad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40080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C5C5C"/>
                </a:solidFill>
              </a:defRPr>
            </a:pPr>
            <a:r>
              <a:t>16 Apr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D2A3E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1168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Questions and feedback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Artifacts, source, and media are included for reproducibility.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09360"/>
            <a:ext cx="11201400" cy="27432"/>
          </a:xfrm>
          <a:prstGeom prst="rect">
            <a:avLst/>
          </a:prstGeom>
          <a:solidFill>
            <a:srgbClr val="1A8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</a:defRPr>
            </a:pPr>
            <a:r>
              <a:t>Myriad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0080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C5C5C"/>
                </a:solidFill>
              </a:defRPr>
            </a:pPr>
            <a:r>
              <a:t>16 Apr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