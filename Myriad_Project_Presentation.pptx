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0D2A3E"/>
                </a:solidFill>
              </a:rPr>
              <a:t>Myriad</a:t>
            </a:r>
          </a:p>
          <a:p>
            <a:pPr>
              <a:defRPr sz="1600">
                <a:solidFill>
                  <a:srgbClr val="5A5A5A"/>
                </a:solidFill>
              </a:defRPr>
            </a:pPr>
            <a:r>
              <a:t>AI-enabled, privacy-first mindful habit tracking across desktop and 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2D2D2D"/>
                </a:solidFill>
              </a:defRPr>
            </a:pPr>
            <a:r>
              <a:t>Final Year Project Presentation</a:t>
            </a:r>
          </a:p>
          <a:p>
            <a:pPr>
              <a:spcAft>
                <a:spcPts val="1200"/>
              </a:spcAft>
              <a:defRPr sz="2400">
                <a:solidFill>
                  <a:srgbClr val="2D2D2D"/>
                </a:solidFill>
              </a:defRPr>
            </a:pPr>
            <a:r>
              <a:t>Said Osman</a:t>
            </a:r>
          </a:p>
          <a:p>
            <a:pPr>
              <a:spcAft>
                <a:spcPts val="1200"/>
              </a:spcAft>
              <a:defRPr sz="2400">
                <a:solidFill>
                  <a:srgbClr val="2D2D2D"/>
                </a:solidFill>
              </a:defRPr>
            </a:pPr>
            <a:r>
              <a:t>Focus: privacy, behavior change, adaptive relapse prevention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263640"/>
            <a:ext cx="11064240" cy="18288"/>
          </a:xfrm>
          <a:prstGeom prst="rect">
            <a:avLst/>
          </a:prstGeom>
          <a:solidFill>
            <a:srgbClr val="1A8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t>Myriad | Privacy-first mindful habit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55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5A5A5A"/>
                </a:solidFill>
              </a:defRPr>
            </a:pPr>
            <a:r>
              <a:t>15 Apr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0D2A3E"/>
                </a:solidFill>
              </a:rPr>
              <a:t>Problem and 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Digital habits can drift without timely feedback and practical interventions.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Users need actionable insights without sacrificing data privacy.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Goal: deliver a local-first system that turns event history into adaptive intervention plans.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263640"/>
            <a:ext cx="11064240" cy="18288"/>
          </a:xfrm>
          <a:prstGeom prst="rect">
            <a:avLst/>
          </a:prstGeom>
          <a:solidFill>
            <a:srgbClr val="1A8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t>Myriad | Privacy-first mindful habit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55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5A5A5A"/>
                </a:solidFill>
              </a:defRPr>
            </a:pPr>
            <a:r>
              <a:t>15 Apr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0D2A3E"/>
                </a:solidFill>
              </a:rPr>
              <a:t>Implemented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Electron desktop app + local Express API + SQLite (better-sqlite3).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Connector imports: browser history, WhatsApp, Telegram.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Dashboard analytics with Chart.js and intervention planning endpoints.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No cloud dependency required for core functionality.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263640"/>
            <a:ext cx="11064240" cy="18288"/>
          </a:xfrm>
          <a:prstGeom prst="rect">
            <a:avLst/>
          </a:prstGeom>
          <a:solidFill>
            <a:srgbClr val="1A8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t>Myriad | Privacy-first mindful habit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55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5A5A5A"/>
                </a:solidFill>
              </a:defRPr>
            </a:pPr>
            <a:r>
              <a:t>15 Apr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0D2A3E"/>
                </a:solidFill>
              </a:rPr>
              <a:t>Privacy and Security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Strict salt enforcement prevents insecure default anonymization.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Admin-only global summary endpoint with explicit key requirement.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Local processing by default reduces external data exposure.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Health/status surfaces privacy warnings in the UI.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263640"/>
            <a:ext cx="11064240" cy="18288"/>
          </a:xfrm>
          <a:prstGeom prst="rect">
            <a:avLst/>
          </a:prstGeom>
          <a:solidFill>
            <a:srgbClr val="1A8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t>Myriad | Privacy-first mindful habit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55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5A5A5A"/>
                </a:solidFill>
              </a:defRPr>
            </a:pPr>
            <a:r>
              <a:t>15 Apr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0D2A3E"/>
                </a:solidFill>
              </a:rPr>
              <a:t>Behavior-Change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Users define measurable habit goals and review progress status.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System classifies progress as on-track, at-risk, or off-track.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Intervention plans are generated from recent behavior patterns.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Plans include immediate actions, environment changes, and reflection prompts.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263640"/>
            <a:ext cx="11064240" cy="18288"/>
          </a:xfrm>
          <a:prstGeom prst="rect">
            <a:avLst/>
          </a:prstGeom>
          <a:solidFill>
            <a:srgbClr val="1A8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t>Myriad | Privacy-first mindful habit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55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5A5A5A"/>
                </a:solidFill>
              </a:defRPr>
            </a:pPr>
            <a:r>
              <a:t>15 Apr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0D2A3E"/>
                </a:solidFill>
              </a:rPr>
              <a:t>Adaptive Relapse Risk Scoring (New)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Risk score combines trend, time-of-day patterns, and device context.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Risk levels: low, moderate, high, critical.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API supports detailed risk diagnostics for each habit goal.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Intervention prompts now intensify automatically as risk rises.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263640"/>
            <a:ext cx="11064240" cy="18288"/>
          </a:xfrm>
          <a:prstGeom prst="rect">
            <a:avLst/>
          </a:prstGeom>
          <a:solidFill>
            <a:srgbClr val="1A8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t>Myriad | Privacy-first mindful habit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55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5A5A5A"/>
                </a:solidFill>
              </a:defRPr>
            </a:pPr>
            <a:r>
              <a:t>15 Apr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0D2A3E"/>
                </a:solidFill>
              </a:rPr>
              <a:t>Notification Nudges in Electron (New)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Renderer computes approaching-limit risk and triggers IPC notifications.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Main process displays native OS notifications and click-to-focus behavior.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Nudge frequency is throttled to avoid alert fatigue.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Designed to intervene before limit breaches occur.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263640"/>
            <a:ext cx="11064240" cy="18288"/>
          </a:xfrm>
          <a:prstGeom prst="rect">
            <a:avLst/>
          </a:prstGeom>
          <a:solidFill>
            <a:srgbClr val="1A8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t>Myriad | Privacy-first mindful habit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55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5A5A5A"/>
                </a:solidFill>
              </a:defRPr>
            </a:pPr>
            <a:r>
              <a:t>15 Apr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0D2A3E"/>
                </a:solidFill>
              </a:rPr>
              <a:t>Validation and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Node integration tests: 14/14 passed.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Playwright E2E test suite: passed.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iOS test pipeline restored: npm run test:ios now succeeds.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Usability pilot: SUS mean 73.8/100 (n=2).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263640"/>
            <a:ext cx="11064240" cy="18288"/>
          </a:xfrm>
          <a:prstGeom prst="rect">
            <a:avLst/>
          </a:prstGeom>
          <a:solidFill>
            <a:srgbClr val="1A8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t>Myriad | Privacy-first mindful habit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55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5A5A5A"/>
                </a:solidFill>
              </a:defRPr>
            </a:pPr>
            <a:r>
              <a:t>15 Apr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0D2A3E"/>
                </a:solidFill>
              </a:rPr>
              <a:t>iOS Recovery and Testability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Recovered from missing project state by scaffolding source-first iOS structure.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Added app target, widget extension target, unit tests, and UI tests.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Added automated regeneration via xcodegen when project file is missing.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test:ios script now resolves an installed simulator automatically.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263640"/>
            <a:ext cx="11064240" cy="18288"/>
          </a:xfrm>
          <a:prstGeom prst="rect">
            <a:avLst/>
          </a:prstGeom>
          <a:solidFill>
            <a:srgbClr val="1A8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t>Myriad | Privacy-first mindful habit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55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5A5A5A"/>
                </a:solidFill>
              </a:defRPr>
            </a:pPr>
            <a:r>
              <a:t>15 Apr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0D2A3E"/>
                </a:solidFill>
              </a:rPr>
              <a:t>Limitations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Current usability sample size is small; larger study needed.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Risk model can be improved with longitudinal calibration and personalization.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Next: richer intervention content, real-time coaching, and longitudinal outcomes.</a:t>
            </a:r>
          </a:p>
          <a:p>
            <a:pPr>
              <a:spcAft>
                <a:spcPts val="1200"/>
              </a:spcAft>
              <a:defRPr sz="2200">
                <a:solidFill>
                  <a:srgbClr val="2D2D2D"/>
                </a:solidFill>
              </a:defRPr>
            </a:pPr>
            <a:r>
              <a:t>Potential publication direction: privacy-preserving behavior change systems.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263640"/>
            <a:ext cx="11064240" cy="18288"/>
          </a:xfrm>
          <a:prstGeom prst="rect">
            <a:avLst/>
          </a:prstGeom>
          <a:solidFill>
            <a:srgbClr val="1A8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t>Myriad | Privacy-first mindful habit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55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5A5A5A"/>
                </a:solidFill>
              </a:defRPr>
            </a:pPr>
            <a:r>
              <a:t>15 Apr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0D2A3E"/>
                </a:solidFill>
              </a:rPr>
              <a:t>Live 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D2D2D"/>
                </a:solidFill>
              </a:defRPr>
            </a:pPr>
            <a:r>
              <a:t>1) Register/login and import sample events</a:t>
            </a:r>
          </a:p>
          <a:p>
            <a:pPr>
              <a:spcAft>
                <a:spcPts val="1200"/>
              </a:spcAft>
              <a:defRPr sz="2000">
                <a:solidFill>
                  <a:srgbClr val="2D2D2D"/>
                </a:solidFill>
              </a:defRPr>
            </a:pPr>
            <a:r>
              <a:t>2) Create habit goal and inspect progress status</a:t>
            </a:r>
          </a:p>
          <a:p>
            <a:pPr>
              <a:spcAft>
                <a:spcPts val="1200"/>
              </a:spcAft>
              <a:defRPr sz="2000">
                <a:solidFill>
                  <a:srgbClr val="2D2D2D"/>
                </a:solidFill>
              </a:defRPr>
            </a:pPr>
            <a:r>
              <a:t>3) Show relapse risk breakdown and intervention plan</a:t>
            </a:r>
          </a:p>
          <a:p>
            <a:pPr>
              <a:spcAft>
                <a:spcPts val="1200"/>
              </a:spcAft>
              <a:defRPr sz="2000">
                <a:solidFill>
                  <a:srgbClr val="2D2D2D"/>
                </a:solidFill>
              </a:defRPr>
            </a:pPr>
            <a:r>
              <a:t>4) Trigger/observe nudge behavior near goal limits</a:t>
            </a:r>
          </a:p>
          <a:p>
            <a:pPr>
              <a:spcAft>
                <a:spcPts val="1200"/>
              </a:spcAft>
              <a:defRPr sz="2000">
                <a:solidFill>
                  <a:srgbClr val="2D2D2D"/>
                </a:solidFill>
              </a:defRPr>
            </a:pPr>
            <a:r>
              <a:t>5) Show privacy warning and data deletion pathway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263640"/>
            <a:ext cx="11064240" cy="18288"/>
          </a:xfrm>
          <a:prstGeom prst="rect">
            <a:avLst/>
          </a:prstGeom>
          <a:solidFill>
            <a:srgbClr val="1A8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t>Myriad | Privacy-first mindful habit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55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5A5A5A"/>
                </a:solidFill>
              </a:defRPr>
            </a:pPr>
            <a:r>
              <a:t>15 Apr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0D2A3E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800">
                <a:solidFill>
                  <a:srgbClr val="2D2D2D"/>
                </a:solidFill>
              </a:defRPr>
            </a:pPr>
            <a:r>
              <a:t>Questions and feedback</a:t>
            </a:r>
          </a:p>
          <a:p>
            <a:pPr>
              <a:spcAft>
                <a:spcPts val="1200"/>
              </a:spcAft>
              <a:defRPr sz="2800">
                <a:solidFill>
                  <a:srgbClr val="2D2D2D"/>
                </a:solidFill>
              </a:defRPr>
            </a:pPr>
            <a:r>
              <a:t>Project repo includes reproducible scripts and artifact evidence.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263640"/>
            <a:ext cx="11064240" cy="18288"/>
          </a:xfrm>
          <a:prstGeom prst="rect">
            <a:avLst/>
          </a:prstGeom>
          <a:solidFill>
            <a:srgbClr val="1A8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t>Myriad | Privacy-first mindful habit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6355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5A5A5A"/>
                </a:solidFill>
              </a:defRPr>
            </a:pPr>
            <a:r>
              <a:t>15 Apr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